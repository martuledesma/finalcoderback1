
<file path=[Content_Types].xml><?xml version="1.0" encoding="utf-8"?>
<Types xmlns="http://schemas.openxmlformats.org/package/2006/content-types">
  <Default Extension="xml" ContentType="application/vnd.openxmlformats-package.core-properties+xml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b926240464840cf" /><Relationship Type="http://schemas.openxmlformats.org/officeDocument/2006/relationships/extended-properties" Target="/docProps/app.xml" Id="Ra7eae366e8fd4d3e" /><Relationship Type="http://schemas.openxmlformats.org/officeDocument/2006/relationships/officeDocument" Target="/ppt/presentation.xml" Id="R5663809ea3ab4f63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6c303e7cf01d4c91"/>
  </p:sldMasterIdLst>
  <p:notesMasterIdLst>
    <p:notesMasterId xmlns:r="http://schemas.openxmlformats.org/officeDocument/2006/relationships" r:id="R0891d44205ff4fd0"/>
  </p:notesMasterIdLst>
  <p:sldIdLst>
    <p:sldId xmlns:r="http://schemas.openxmlformats.org/officeDocument/2006/relationships" id="256" r:id="Rf6e91582f3bf4d9b"/>
    <p:sldId xmlns:r="http://schemas.openxmlformats.org/officeDocument/2006/relationships" id="257" r:id="R7b57b0d151624800"/>
    <p:sldId xmlns:r="http://schemas.openxmlformats.org/officeDocument/2006/relationships" id="258" r:id="R4631932e371d4a3f"/>
    <p:sldId xmlns:r="http://schemas.openxmlformats.org/officeDocument/2006/relationships" id="259" r:id="Rfa0f0fb41d6d4551"/>
    <p:sldId xmlns:r="http://schemas.openxmlformats.org/officeDocument/2006/relationships" id="260" r:id="Rc5c95e9a56194b66"/>
    <p:sldId xmlns:r="http://schemas.openxmlformats.org/officeDocument/2006/relationships" id="261" r:id="Rcdfa68af8a19403c"/>
    <p:sldId xmlns:r="http://schemas.openxmlformats.org/officeDocument/2006/relationships" id="262" r:id="R7dcdbfe22e884ad5"/>
    <p:sldId xmlns:r="http://schemas.openxmlformats.org/officeDocument/2006/relationships" id="263" r:id="R006562716ca940a8"/>
    <p:sldId xmlns:r="http://schemas.openxmlformats.org/officeDocument/2006/relationships" id="264" r:id="R6fcf19472f354346"/>
    <p:sldId xmlns:r="http://schemas.openxmlformats.org/officeDocument/2006/relationships" id="265" r:id="R5352e9993fe549d6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738392563724a0a" /><Relationship Type="http://schemas.openxmlformats.org/officeDocument/2006/relationships/slideMaster" Target="/ppt/slideMasters/slideMaster1.xml" Id="R6c303e7cf01d4c91" /><Relationship Type="http://schemas.openxmlformats.org/officeDocument/2006/relationships/notesMaster" Target="/ppt/notesMasters/notesMaster1.xml" Id="R0891d44205ff4fd0" /><Relationship Type="http://schemas.openxmlformats.org/officeDocument/2006/relationships/presProps" Target="/ppt/presProps.xml" Id="R556823bfb0344f51" /><Relationship Type="http://schemas.openxmlformats.org/officeDocument/2006/relationships/tableStyles" Target="/ppt/tableStyles.xml" Id="R3285598ce16e4df0" /><Relationship Type="http://schemas.openxmlformats.org/officeDocument/2006/relationships/slide" Target="/ppt/slides/slide1.xml" Id="Rf6e91582f3bf4d9b" /><Relationship Type="http://schemas.openxmlformats.org/officeDocument/2006/relationships/slide" Target="/ppt/slides/slide2.xml" Id="R7b57b0d151624800" /><Relationship Type="http://schemas.openxmlformats.org/officeDocument/2006/relationships/slide" Target="/ppt/slides/slide3.xml" Id="R4631932e371d4a3f" /><Relationship Type="http://schemas.openxmlformats.org/officeDocument/2006/relationships/slide" Target="/ppt/slides/slide4.xml" Id="Rfa0f0fb41d6d4551" /><Relationship Type="http://schemas.openxmlformats.org/officeDocument/2006/relationships/slide" Target="/ppt/slides/slide5.xml" Id="Rc5c95e9a56194b66" /><Relationship Type="http://schemas.openxmlformats.org/officeDocument/2006/relationships/slide" Target="/ppt/slides/slide6.xml" Id="Rcdfa68af8a19403c" /><Relationship Type="http://schemas.openxmlformats.org/officeDocument/2006/relationships/slide" Target="/ppt/slides/slide7.xml" Id="R7dcdbfe22e884ad5" /><Relationship Type="http://schemas.openxmlformats.org/officeDocument/2006/relationships/slide" Target="/ppt/slides/slide8.xml" Id="R006562716ca940a8" /><Relationship Type="http://schemas.openxmlformats.org/officeDocument/2006/relationships/slide" Target="/ppt/slides/slide9.xml" Id="R6fcf19472f354346" /><Relationship Type="http://schemas.openxmlformats.org/officeDocument/2006/relationships/slide" Target="/ppt/slides/slide10.xml" Id="R5352e9993fe549d6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4552c040869d4d4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b17eebbf53c4aae" /><Relationship Type="http://schemas.openxmlformats.org/officeDocument/2006/relationships/notesMaster" Target="/ppt/notesMasters/notesMaster1.xml" Id="R5bc9875c25fe466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871caa878064e2a" /><Relationship Type="http://schemas.openxmlformats.org/officeDocument/2006/relationships/notesMaster" Target="/ppt/notesMasters/notesMaster1.xml" Id="R6c0f3abed563405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950637a7b32449d" /><Relationship Type="http://schemas.openxmlformats.org/officeDocument/2006/relationships/notesMaster" Target="/ppt/notesMasters/notesMaster1.xml" Id="R5ee0cb683fec400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d7a460c2500e4ccd" /><Relationship Type="http://schemas.openxmlformats.org/officeDocument/2006/relationships/notesMaster" Target="/ppt/notesMasters/notesMaster1.xml" Id="R7577993bf0a1482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33db548e12b4c45" /><Relationship Type="http://schemas.openxmlformats.org/officeDocument/2006/relationships/notesMaster" Target="/ppt/notesMasters/notesMaster1.xml" Id="Ra48fdc00970f412e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cab814f36faa41d4" /><Relationship Type="http://schemas.openxmlformats.org/officeDocument/2006/relationships/notesMaster" Target="/ppt/notesMasters/notesMaster1.xml" Id="Re6fa78f5f9734d9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26a57018accf4ed2" /><Relationship Type="http://schemas.openxmlformats.org/officeDocument/2006/relationships/notesMaster" Target="/ppt/notesMasters/notesMaster1.xml" Id="Reb88a8adfed3432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f1d020fc51d54623" /><Relationship Type="http://schemas.openxmlformats.org/officeDocument/2006/relationships/notesMaster" Target="/ppt/notesMasters/notesMaster1.xml" Id="R592d771b4c41462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7dc5673feb04ecb" /><Relationship Type="http://schemas.openxmlformats.org/officeDocument/2006/relationships/notesMaster" Target="/ppt/notesMasters/notesMaster1.xml" Id="R7d3b53f0df304f7c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6a8baeae21e4ff1" /><Relationship Type="http://schemas.openxmlformats.org/officeDocument/2006/relationships/notesMaster" Target="/ppt/notesMasters/notesMaster1.xml" Id="Rfb35560428954dc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26cc925edd54ce7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6d687afcc9ae4f9d" /><Relationship Type="http://schemas.openxmlformats.org/officeDocument/2006/relationships/slideLayout" Target="/ppt/slideLayouts/slideLayout1.xml" Id="Ra15bc9f1bf6d43e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15bc9f1bf6d43e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73e62eda6a94c5e" /><Relationship Type="http://schemas.openxmlformats.org/officeDocument/2006/relationships/image" Target="/ppt/media/image.jpeg" Id="R567cdcc011174fb2" /><Relationship Type="http://schemas.openxmlformats.org/officeDocument/2006/relationships/notesSlide" Target="/ppt/notesSlides/notesSlide1.xml" Id="R57a09cbbdb8c4797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39d5e750f9046b8" /><Relationship Type="http://schemas.openxmlformats.org/officeDocument/2006/relationships/notesSlide" Target="/ppt/notesSlides/notesSlide2.xml" Id="Rb7a6f32e2dab4d7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8e482e24ad4cfa" /><Relationship Type="http://schemas.openxmlformats.org/officeDocument/2006/relationships/notesSlide" Target="/ppt/notesSlides/notesSlide3.xml" Id="R54e337de65c14ae7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a62405701be4990" /><Relationship Type="http://schemas.openxmlformats.org/officeDocument/2006/relationships/notesSlide" Target="/ppt/notesSlides/notesSlide4.xml" Id="R17b54f3b956a4afa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39289bceee64a33" /><Relationship Type="http://schemas.openxmlformats.org/officeDocument/2006/relationships/image" Target="/ppt/media/image2.jpeg" Id="R6de12bd9d8134c99" /><Relationship Type="http://schemas.openxmlformats.org/officeDocument/2006/relationships/notesSlide" Target="/ppt/notesSlides/notesSlide5.xml" Id="Rf927b1ed1215456c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46229212c643db" /><Relationship Type="http://schemas.openxmlformats.org/officeDocument/2006/relationships/notesSlide" Target="/ppt/notesSlides/notesSlide6.xml" Id="R681121995b934056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52e565891224a13" /><Relationship Type="http://schemas.openxmlformats.org/officeDocument/2006/relationships/image" Target="/ppt/media/image3.jpeg" Id="R600b1c53e9df4ca1" /><Relationship Type="http://schemas.openxmlformats.org/officeDocument/2006/relationships/image" Target="/ppt/media/image4.jpeg" Id="R5b43a388bfd349ca" /><Relationship Type="http://schemas.openxmlformats.org/officeDocument/2006/relationships/image" Target="/ppt/media/image5.jpeg" Id="R601806b688134252" /><Relationship Type="http://schemas.openxmlformats.org/officeDocument/2006/relationships/notesSlide" Target="/ppt/notesSlides/notesSlide7.xml" Id="R2d88bf35f20c432b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009ee51b26d46b0" /><Relationship Type="http://schemas.openxmlformats.org/officeDocument/2006/relationships/notesSlide" Target="/ppt/notesSlides/notesSlide8.xml" Id="R9c7442274d7a47a1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037ac204d24fc1" /><Relationship Type="http://schemas.openxmlformats.org/officeDocument/2006/relationships/notesSlide" Target="/ppt/notesSlides/notesSlide9.xml" Id="Racc5b1a5dad74a1f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7ebc4c1ea741de" /><Relationship Type="http://schemas.openxmlformats.org/officeDocument/2006/relationships/notesSlide" Target="/ppt/notesSlides/notesSlide10.xml" Id="R0fb00c10d1864d94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7cdcc011174fb2"/>
          <a:srcRect xmlns:a="http://schemas.openxmlformats.org/drawingml/2006/main" l="7848" t="0" r="784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0" y="0"/>
            <a:ext cx="4476750" cy="68580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220F258-8E1D-4870-BE59-BF35717B98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685800"/>
            <a:ext cx="4953000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050" b="1">
                <a:solidFill>
                  <a:srgbClr val="4B0004"/>
                </a:solidFill>
              </a:defRPr>
            </a:pPr>
            <a:r>
              <a:rPr sz="4050" b="1">
                <a:solidFill>
                  <a:srgbClr val="4B0004"/>
                </a:solidFill>
              </a:rPr>
              <a:t>KITANA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4167180-341B-431E-8F75-E3CA5F1AF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1409700"/>
            <a:ext cx="58102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210708"/>
                </a:solidFill>
              </a:defRPr>
            </a:pPr>
            <a:r>
              <a:rPr sz="2850" b="1">
                <a:solidFill>
                  <a:srgbClr val="210708"/>
                </a:solidFill>
              </a:rPr>
              <a:t>Ecommerce backend final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269D720-275D-42BB-A33C-4CFC2B46A7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2362200"/>
            <a:ext cx="57150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0">
                <a:solidFill>
                  <a:srgbClr val="806D62"/>
                </a:solidFill>
              </a:defRPr>
            </a:pPr>
            <a:r>
              <a:rPr sz="1800" b="0">
                <a:solidFill>
                  <a:srgbClr val="806D62"/>
                </a:solidFill>
              </a:rPr>
              <a:t>Node.js + Express + MongoDB + Handlebars + Socket.IO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A3A00F-4621-4024-AE25-908165F5D1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5715000"/>
            <a:ext cx="4286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0004"/>
                </a:solidFill>
              </a:defRPr>
            </a:pPr>
            <a:r>
              <a:rPr sz="1500" b="1">
                <a:solidFill>
                  <a:srgbClr val="4B0004"/>
                </a:solidFill>
              </a:rPr>
              <a:t>Proyecto final Backend I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E69D9E0-BF65-41A8-8B77-AA15198A1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FA5A893-4DC6-4278-A12E-DF8D24FF4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01</a:t>
            </a:r>
          </a:p>
        </p:txBody>
      </p:sp>
    </p:spTree>
    <p:extLst>
      <p:ext uri="{BB962C8B-B14F-4D97-AF65-F5344CB8AC3E}">
        <p14:creationId xmlns:p14="http://schemas.microsoft.com/office/powerpoint/2010/main" val="1133904240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79368E4-F16A-4F56-A94A-D75B2C4589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0004"/>
                </a:solidFill>
              </a:defRPr>
            </a:pPr>
            <a:r>
              <a:rPr sz="2850" b="1">
                <a:solidFill>
                  <a:srgbClr val="4B0004"/>
                </a:solidFill>
              </a:rPr>
              <a:t>Kitana resuelve la gestion basica de una tienda de ropa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9BCF697-5241-406E-841F-1EC2F11DC9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06D62"/>
                </a:solidFill>
              </a:defRPr>
            </a:pPr>
            <a:r>
              <a:rPr sz="1425" b="0">
                <a:solidFill>
                  <a:srgbClr val="806D62"/>
                </a:solidFill>
              </a:rPr>
              <a:t>La aplicacion organiza catalogo, carritos, persistencia y vistas en tiempo real para validar un flujo ecommerce completo.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1E267BC-2DBA-425C-9C04-EF609F01B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57175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FCF"/>
          </a:solidFill>
          <a:ln xmlns:a="http://schemas.openxmlformats.org/drawingml/2006/main" w="9525">
            <a:solidFill>
              <a:srgbClr val="D7C5B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88C363-F8D2-4D06-8099-FA39194BE8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0004"/>
                </a:solidFill>
              </a:defRPr>
            </a:pPr>
            <a:r>
              <a:rPr sz="2100" b="1">
                <a:solidFill>
                  <a:srgbClr val="4B0004"/>
                </a:solidFill>
              </a:rPr>
              <a:t>Problema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FF68554-FEBA-4295-9400-F704AF596E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35280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0708"/>
                </a:solidFill>
              </a:defRPr>
            </a:pPr>
            <a:r>
              <a:rPr sz="1575" b="0">
                <a:solidFill>
                  <a:srgbClr val="210708"/>
                </a:solidFill>
              </a:rPr>
              <a:t>Centralizar productos, stock y carritos sin depender de archivos manuales.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6EF7EB-72FA-4FFD-AB86-2A2CA48884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57175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004"/>
          </a:solidFill>
          <a:ln xmlns:a="http://schemas.openxmlformats.org/drawingml/2006/main" w="9525">
            <a:solidFill>
              <a:srgbClr val="D7C5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8B90798-73DF-4ADF-BF6A-052916E21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ECDF"/>
                </a:solidFill>
              </a:defRPr>
            </a:pPr>
            <a:r>
              <a:rPr sz="2100" b="1">
                <a:solidFill>
                  <a:srgbClr val="F7ECDF"/>
                </a:solidFill>
              </a:rPr>
              <a:t>Publico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58DAB87-2908-4BE0-93B8-6494A0B75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335280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F7ECDF"/>
                </a:solidFill>
              </a:defRPr>
            </a:pPr>
            <a:r>
              <a:rPr sz="1575" b="0">
                <a:solidFill>
                  <a:srgbClr val="F7ECDF"/>
                </a:solidFill>
              </a:rPr>
              <a:t>Emprendimiento de ropa que necesita mostrar prendas y administrar catalogo.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7213B8-00A9-4FB4-933F-200CDB00E5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2571750"/>
            <a:ext cx="3143250" cy="2286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FCF"/>
          </a:solidFill>
          <a:ln xmlns:a="http://schemas.openxmlformats.org/drawingml/2006/main" w="9525">
            <a:solidFill>
              <a:srgbClr val="D7C5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2B73AC6-55BA-4797-B581-B5DD79AF7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781300"/>
            <a:ext cx="2667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4B0004"/>
                </a:solidFill>
              </a:defRPr>
            </a:pPr>
            <a:r>
              <a:rPr sz="2100" b="1">
                <a:solidFill>
                  <a:srgbClr val="4B0004"/>
                </a:solidFill>
              </a:rPr>
              <a:t>Funciones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231E32-194B-4820-B889-DFD0D8841E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3352800"/>
            <a:ext cx="2667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210708"/>
                </a:solidFill>
              </a:defRPr>
            </a:pPr>
            <a:r>
              <a:rPr sz="1575" b="0">
                <a:solidFill>
                  <a:srgbClr val="210708"/>
                </a:solidFill>
              </a:rPr>
              <a:t>CRUD de productos, carrito, filtros, busqueda, vistas y WebSockets.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1E80E5D-0BD2-43AD-8C96-5523DFD95D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32F0B60-F73A-4CD5-8227-AFDEC899A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02</a:t>
            </a:r>
          </a:p>
        </p:txBody>
      </p:sp>
    </p:spTree>
    <p:extLst>
      <p:ext uri="{BB962C8B-B14F-4D97-AF65-F5344CB8AC3E}">
        <p14:creationId xmlns:p14="http://schemas.microsoft.com/office/powerpoint/2010/main" val="1270965532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1A9184C7-F759-4A46-88A3-4946AE2A8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0004"/>
                </a:solidFill>
              </a:defRPr>
            </a:pPr>
            <a:r>
              <a:rPr sz="2850" b="1">
                <a:solidFill>
                  <a:srgbClr val="4B0004"/>
                </a:solidFill>
              </a:rPr>
              <a:t>La estructura separa responsabilidades para que el backend sea mantenible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28CEC-2B5E-4FEA-995E-304981EB2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06D62"/>
                </a:solidFill>
              </a:defRPr>
            </a:pPr>
            <a:r>
              <a:rPr sz="1425" b="0">
                <a:solidFill>
                  <a:srgbClr val="806D62"/>
                </a:solidFill>
              </a:rPr>
              <a:t>Rutas, controllers, modelos y DAO trabajan como capas independientes.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CB598F6-F065-499F-82D7-6BB3B92F1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1907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7C5B6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9529D64-E401-42D7-8CC1-1A348221A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23336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0004"/>
                </a:solidFill>
              </a:defRPr>
            </a:pPr>
            <a:r>
              <a:rPr sz="1800" b="1">
                <a:solidFill>
                  <a:srgbClr val="4B0004"/>
                </a:solidFill>
              </a:rPr>
              <a:t>routes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2D9CEA-766D-4652-8BB7-74038B4C9F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23526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0708"/>
                </a:solidFill>
              </a:defRPr>
            </a:pPr>
            <a:r>
              <a:rPr sz="1500" b="0">
                <a:solidFill>
                  <a:srgbClr val="210708"/>
                </a:solidFill>
              </a:rPr>
              <a:t>/api/products, /api/carts y vistas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FA35C63-6BFE-41BC-B601-C354E266D6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293370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7C5B6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32B44DB-64AF-4686-9247-5A5BE028B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0765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0004"/>
                </a:solidFill>
              </a:defRPr>
            </a:pPr>
            <a:r>
              <a:rPr sz="1800" b="1">
                <a:solidFill>
                  <a:srgbClr val="4B0004"/>
                </a:solidFill>
              </a:rPr>
              <a:t>controllers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9E5465-29A3-45DA-A160-7DB2D90FCD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0956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0708"/>
                </a:solidFill>
              </a:defRPr>
            </a:pPr>
            <a:r>
              <a:rPr sz="1500" b="0">
                <a:solidFill>
                  <a:srgbClr val="210708"/>
                </a:solidFill>
              </a:rPr>
              <a:t>Validan requests y coordinan la respuesta HTTP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B9627F2-62B1-4DAA-9A40-CED3E1C222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36766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7C5B6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3C942E6-5EA9-4143-A9A9-37675B1A46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38195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0004"/>
                </a:solidFill>
              </a:defRPr>
            </a:pPr>
            <a:r>
              <a:rPr sz="1800" b="1">
                <a:solidFill>
                  <a:srgbClr val="4B0004"/>
                </a:solidFill>
              </a:rPr>
              <a:t>dao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9810478-6860-4C1F-A25B-819754C838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38385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0708"/>
                </a:solidFill>
              </a:defRPr>
            </a:pPr>
            <a:r>
              <a:rPr sz="1500" b="0">
                <a:solidFill>
                  <a:srgbClr val="210708"/>
                </a:solidFill>
              </a:rPr>
              <a:t>MongoDB principal y FileSystem conservado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8EB09BF-D674-41B5-9A8D-E76B72C3AC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441960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7C5B6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2417806-892E-49FA-AFD1-322667DE3C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456247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0004"/>
                </a:solidFill>
              </a:defRPr>
            </a:pPr>
            <a:r>
              <a:rPr sz="1800" b="1">
                <a:solidFill>
                  <a:srgbClr val="4B0004"/>
                </a:solidFill>
              </a:rPr>
              <a:t>models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ED19D7-BB23-4993-B1F4-3841BFB3F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458152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0708"/>
                </a:solidFill>
              </a:defRPr>
            </a:pPr>
            <a:r>
              <a:rPr sz="1500" b="0">
                <a:solidFill>
                  <a:srgbClr val="210708"/>
                </a:solidFill>
              </a:rPr>
              <a:t>Schemas Mongoose para products y carts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7B71BE9-B1ED-4B6A-9760-8F44E3A17D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162550"/>
            <a:ext cx="102870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8F0"/>
          </a:solidFill>
          <a:ln xmlns:a="http://schemas.openxmlformats.org/drawingml/2006/main" w="9525">
            <a:solidFill>
              <a:srgbClr val="D7C5B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89ED6F-A8B5-4B8B-BE7F-0F01267EF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305425"/>
            <a:ext cx="1714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4B0004"/>
                </a:solidFill>
              </a:defRPr>
            </a:pPr>
            <a:r>
              <a:rPr sz="1800" b="1">
                <a:solidFill>
                  <a:srgbClr val="4B0004"/>
                </a:solidFill>
              </a:rPr>
              <a:t>public + views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10D40468-FA54-4EF0-B3D7-E11C60733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48000" y="5324475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0708"/>
                </a:solidFill>
              </a:defRPr>
            </a:pPr>
            <a:r>
              <a:rPr sz="1500" b="0">
                <a:solidFill>
                  <a:srgbClr val="210708"/>
                </a:solidFill>
              </a:rPr>
              <a:t>Frontend Handlebars, CSS y JS del cliente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B71EFB91-5E3F-4198-8E12-EB685DD73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98D3F54-C613-45EC-B108-8BBA0F270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03</a:t>
            </a:r>
          </a:p>
        </p:txBody>
      </p:sp>
    </p:spTree>
    <p:extLst>
      <p:ext uri="{BB962C8B-B14F-4D97-AF65-F5344CB8AC3E}">
        <p14:creationId xmlns:p14="http://schemas.microsoft.com/office/powerpoint/2010/main" val="1671350230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D25E654A-E75A-4323-AEDB-C5A49F126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0004"/>
                </a:solidFill>
              </a:defRPr>
            </a:pPr>
            <a:r>
              <a:rPr sz="2850" b="1">
                <a:solidFill>
                  <a:srgbClr val="4B0004"/>
                </a:solidFill>
              </a:rPr>
              <a:t>La API de productos cubre CRUD, filtros, paginacion y orden por precio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9F02A2A-D85F-4B8C-B5F5-9247EE2E0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06D62"/>
                </a:solidFill>
              </a:defRPr>
            </a:pPr>
            <a:r>
              <a:rPr sz="1425" b="0">
                <a:solidFill>
                  <a:srgbClr val="806D62"/>
                </a:solidFill>
              </a:rPr>
              <a:t>La respuesta de GET /api/products respeta el formato solicitado por la consigna.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2CE2EF-588A-4261-B4BC-97B69E3B3E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90750"/>
            <a:ext cx="53340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0708"/>
          </a:solidFill>
          <a:ln xmlns:a="http://schemas.openxmlformats.org/drawingml/2006/main" w="9525">
            <a:solidFill>
              <a:srgbClr val="4B000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50301C6-85A8-43A5-9DB0-66765EEA7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62200"/>
            <a:ext cx="4953000" cy="2038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GET    /api/products?limit=10&amp;page=1&amp;query=tops&amp;sort=asc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GET    /api/products/:pid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POST   /api/products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PUT    /api/products/:pid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DELETE /api/products/:pid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4B39121-0593-4068-9BC4-3C2B6072E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190750"/>
            <a:ext cx="4762500" cy="2381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DFCF"/>
          </a:solidFill>
          <a:ln xmlns:a="http://schemas.openxmlformats.org/drawingml/2006/main" w="9525">
            <a:solidFill>
              <a:srgbClr val="D7C5B6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CB0546-A36A-4C4D-A216-0782A4FB55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4574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limit y page tienen defaults 10 y 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758E342-440C-42C4-93B4-B5C6D745C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29527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query filtra por categoria o disponibilidad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4C64711-5E97-4299-8604-8D94BBD03A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4480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sort acepta asc o desc por precio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BAA5A2F-2B95-40E5-867A-594F5DCCAE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3943350"/>
            <a:ext cx="4000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el ID lo genera MongoDB automaticamente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AF145823-ED30-4DE6-A022-BDAD4FBCA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26D5A00-40BC-492E-B51E-F54E982227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04</a:t>
            </a:r>
          </a:p>
        </p:txBody>
      </p:sp>
    </p:spTree>
    <p:extLst>
      <p:ext uri="{BB962C8B-B14F-4D97-AF65-F5344CB8AC3E}">
        <p14:creationId xmlns:p14="http://schemas.microsoft.com/office/powerpoint/2010/main" val="125197662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912B94F-D868-4A60-A7DF-1EF8372DF0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0004"/>
                </a:solidFill>
              </a:defRPr>
            </a:pPr>
            <a:r>
              <a:rPr sz="2850" b="1">
                <a:solidFill>
                  <a:srgbClr val="4B0004"/>
                </a:solidFill>
              </a:rPr>
              <a:t>El carrito permite agregar, modificar, eliminar y vaciar productos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A61723-2C0D-4F13-BEEE-9A2F70341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06D62"/>
                </a:solidFill>
              </a:defRPr>
            </a:pPr>
            <a:r>
              <a:rPr sz="1425" b="0">
                <a:solidFill>
                  <a:srgbClr val="806D62"/>
                </a:solidFill>
              </a:rPr>
              <a:t>La vista usa un carrito activo en el navegador y la API mantiene la estructura requerida.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D20A9-D377-4970-AEDE-72929346F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14550"/>
            <a:ext cx="5905500" cy="3028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0708"/>
          </a:solidFill>
          <a:ln xmlns:a="http://schemas.openxmlformats.org/drawingml/2006/main" w="9525">
            <a:solidFill>
              <a:srgbClr val="4B000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046BE85-E00D-4021-A743-2139148C29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5524500" cy="2686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POST   /api/carts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GET    /api/carts/:cid   // populate products.product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POST   /api/carts/:cid/products/:pid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DELETE /api/carts/:cid/products/:pid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PUT    /api/carts/:cid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PUT    /api/carts/:cid/products/:pid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DELETE /api/carts/:cid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de12bd9d8134c99"/>
          <a:srcRect xmlns:a="http://schemas.openxmlformats.org/drawingml/2006/main" l="0" t="12243" r="0" b="1224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239000" y="2114550"/>
            <a:ext cx="3429000" cy="302895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056D99A-5DDD-41BD-A794-F81E2BC4D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334000"/>
            <a:ext cx="3714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0004"/>
                </a:solidFill>
              </a:defRPr>
            </a:pPr>
            <a:r>
              <a:rPr sz="1500" b="1">
                <a:solidFill>
                  <a:srgbClr val="4B0004"/>
                </a:solidFill>
              </a:rPr>
              <a:t>La interfaz suma/resta unidades, elimina productos y muestra un boton de compra simulado.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B423FF-E4FD-4A7F-A6CB-95F8C3868F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3E174C3-BA4C-4F04-B005-F0380528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05</a:t>
            </a:r>
          </a:p>
        </p:txBody>
      </p:sp>
    </p:spTree>
    <p:extLst>
      <p:ext uri="{BB962C8B-B14F-4D97-AF65-F5344CB8AC3E}">
        <p14:creationId xmlns:p14="http://schemas.microsoft.com/office/powerpoint/2010/main" val="1448521828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9AD7BE7-24D2-4B08-937B-874E8B4B85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0004"/>
                </a:solidFill>
              </a:defRPr>
            </a:pPr>
            <a:r>
              <a:rPr sz="2850" b="1">
                <a:solidFill>
                  <a:srgbClr val="4B0004"/>
                </a:solidFill>
              </a:rPr>
              <a:t>La persistencia principal usa MongoDB Atlas con Mongoose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7CF0621-1982-4734-8659-62C57CE522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06D62"/>
                </a:solidFill>
              </a:defRPr>
            </a:pPr>
            <a:r>
              <a:rPr sz="1425" b="0">
                <a:solidFill>
                  <a:srgbClr val="806D62"/>
                </a:solidFill>
              </a:rPr>
              <a:t>La base se llama ecommerce y contiene las colecciones products y carts.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5C2F5A1-D5E6-4420-8FD6-5AA5733CE8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B0004"/>
                </a:solidFill>
              </a:defRPr>
            </a:pPr>
            <a:r>
              <a:rPr sz="1950" b="1">
                <a:solidFill>
                  <a:srgbClr val="4B0004"/>
                </a:solidFill>
              </a:rPr>
              <a:t>ProductModel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320F091-E64D-4E5F-B10B-B2478805F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22764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0708"/>
                </a:solidFill>
              </a:defRPr>
            </a:pPr>
            <a:r>
              <a:rPr sz="1500" b="0">
                <a:solidFill>
                  <a:srgbClr val="210708"/>
                </a:solidFill>
              </a:rPr>
              <a:t>title, description, code, price, status, stock, category, sizes, thumbnails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2A174F6-80DD-4FEF-9ADC-2DB44D1F5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0670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B0004"/>
                </a:solidFill>
              </a:defRPr>
            </a:pPr>
            <a:r>
              <a:rPr sz="1950" b="1">
                <a:solidFill>
                  <a:srgbClr val="4B0004"/>
                </a:solidFill>
              </a:rPr>
              <a:t>CartModel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1BF4EF2-13F8-4DFE-829A-9F8D551DC6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0956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0708"/>
                </a:solidFill>
              </a:defRPr>
            </a:pPr>
            <a:r>
              <a:rPr sz="1500" b="0">
                <a:solidFill>
                  <a:srgbClr val="210708"/>
                </a:solidFill>
              </a:rPr>
              <a:t>products: product ref + quantity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5C8F2E-3D22-4AD7-B935-02FE3ED89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88620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B0004"/>
                </a:solidFill>
              </a:defRPr>
            </a:pPr>
            <a:r>
              <a:rPr sz="1950" b="1">
                <a:solidFill>
                  <a:srgbClr val="4B0004"/>
                </a:solidFill>
              </a:rPr>
              <a:t>DAO Mongo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929FFDA-AFF3-4286-9E4C-3EA551137E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391477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0708"/>
                </a:solidFill>
              </a:defRPr>
            </a:pPr>
            <a:r>
              <a:rPr sz="1500" b="0">
                <a:solidFill>
                  <a:srgbClr val="210708"/>
                </a:solidFill>
              </a:rPr>
              <a:t>consultas, paginacion, populate y actualizaciones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1E8D58-37C2-40D9-AC46-AC5297CCE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705350"/>
            <a:ext cx="23812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950" b="1">
                <a:solidFill>
                  <a:srgbClr val="4B0004"/>
                </a:solidFill>
              </a:defRPr>
            </a:pPr>
            <a:r>
              <a:rPr sz="1950" b="1">
                <a:solidFill>
                  <a:srgbClr val="4B0004"/>
                </a:solidFill>
              </a:rPr>
              <a:t>DAO FileSystem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D5142A7-2205-4694-9ACD-B4E4E6F6F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33750" y="4733925"/>
            <a:ext cx="7239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210708"/>
                </a:solidFill>
              </a:defRPr>
            </a:pPr>
            <a:r>
              <a:rPr sz="1500" b="0">
                <a:solidFill>
                  <a:srgbClr val="210708"/>
                </a:solidFill>
              </a:rPr>
              <a:t>implementacion previa conservada en src/dao/fs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2DBA2D9-9E2E-4748-8B72-7EF74D5A7F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40907C3-E6B7-4345-9855-67460D45AE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06</a:t>
            </a:r>
          </a:p>
        </p:txBody>
      </p:sp>
    </p:spTree>
    <p:extLst>
      <p:ext uri="{BB962C8B-B14F-4D97-AF65-F5344CB8AC3E}">
        <p14:creationId xmlns:p14="http://schemas.microsoft.com/office/powerpoint/2010/main" val="1311420221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34B0BD0-0570-408D-B95A-6FAA7E7E13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0004"/>
                </a:solidFill>
              </a:defRPr>
            </a:pPr>
            <a:r>
              <a:rPr sz="2850" b="1">
                <a:solidFill>
                  <a:srgbClr val="4B0004"/>
                </a:solidFill>
              </a:rPr>
              <a:t>Las vistas permiten validar la experiencia completa sin salir del navegador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69153E4-7A60-4CFF-AA95-EA8A7D36C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06D62"/>
                </a:solidFill>
              </a:defRPr>
            </a:pPr>
            <a:r>
              <a:rPr sz="1425" b="0">
                <a:solidFill>
                  <a:srgbClr val="806D62"/>
                </a:solidFill>
              </a:rPr>
              <a:t>Handlebars muestra catalogo, detalle, carrito y administracion en tiempo real.</a:t>
            </a:r>
          </a:p>
        </p:txBody>
      </p:sp>
      <p:pic>
        <p:nvPicPr>
          <p:cNvPr id="1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0b1c53e9df4ca1"/>
          <a:srcRect xmlns:a="http://schemas.openxmlformats.org/drawingml/2006/main" l="2519" t="0" r="251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66750" y="2000250"/>
            <a:ext cx="2381250" cy="3238500"/>
          </a:xfrm>
          <a:prstGeom xmlns:a="http://schemas.openxmlformats.org/drawingml/2006/main" prst="rect">
            <a:avLst/>
          </a:prstGeom>
        </p:spPr>
      </p:pic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b43a388bfd349ca"/>
          <a:srcRect xmlns:a="http://schemas.openxmlformats.org/drawingml/2006/main" l="13606" t="0" r="1360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333750" y="2000250"/>
            <a:ext cx="2381250" cy="3238500"/>
          </a:xfrm>
          <a:prstGeom xmlns:a="http://schemas.openxmlformats.org/drawingml/2006/main" prst="rect">
            <a:avLst/>
          </a:prstGeom>
        </p:spPr>
      </p:pic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01806b688134252"/>
          <a:srcRect xmlns:a="http://schemas.openxmlformats.org/drawingml/2006/main" l="6994" t="0" r="6994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000750" y="2000250"/>
            <a:ext cx="2381250" cy="3238500"/>
          </a:xfrm>
          <a:prstGeom xmlns:a="http://schemas.openxmlformats.org/drawingml/2006/main" prst="rect">
            <a:avLst/>
          </a:prstGeom>
        </p:spPr>
      </p:pic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3EC2AA4-C6C4-498E-9697-66DF6A5D21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2000250"/>
            <a:ext cx="25717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4B0004"/>
          </a:solidFill>
          <a:ln xmlns:a="http://schemas.openxmlformats.org/drawingml/2006/main" w="9525">
            <a:solidFill>
              <a:srgbClr val="4B0004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3941E8A-ED9F-4FB9-B6BB-010091B7EA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324100"/>
            <a:ext cx="2095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250" b="1">
                <a:solidFill>
                  <a:srgbClr val="F7ECDF"/>
                </a:solidFill>
              </a:defRPr>
            </a:pPr>
            <a:r>
              <a:rPr sz="2250" b="1">
                <a:solidFill>
                  <a:srgbClr val="F7ECDF"/>
                </a:solidFill>
              </a:rPr>
              <a:t>WebSockets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6E1ED6D-D855-4EDC-87D2-BCF794A746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2933700"/>
            <a:ext cx="2076450" cy="1485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F7ECDF"/>
                </a:solidFill>
              </a:defRPr>
            </a:pPr>
            <a:r>
              <a:rPr sz="1650" b="0">
                <a:solidFill>
                  <a:srgbClr val="F7ECDF"/>
                </a:solidFill>
              </a:rPr>
              <a:t>Cada alta, edicion o baja de producto emite productsUpdated y refresca el admin automaticamente.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928E72-E0E0-499E-BE39-8A3465A75D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9263A40-67F8-428C-8FF7-B16A303B00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07</a:t>
            </a:r>
          </a:p>
        </p:txBody>
      </p:sp>
    </p:spTree>
    <p:extLst>
      <p:ext uri="{BB962C8B-B14F-4D97-AF65-F5344CB8AC3E}">
        <p14:creationId xmlns:p14="http://schemas.microsoft.com/office/powerpoint/2010/main" val="23767346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9F6BC3-339D-4DE6-B877-F1C1A2F68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0004"/>
                </a:solidFill>
              </a:defRPr>
            </a:pPr>
            <a:r>
              <a:rPr sz="2850" b="1">
                <a:solidFill>
                  <a:srgbClr val="4B0004"/>
                </a:solidFill>
              </a:rPr>
              <a:t>El codigo modular respalda los requisitos tecnicos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2755EED-A3DB-48A7-8EB1-82656B9AB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06D62"/>
                </a:solidFill>
              </a:defRPr>
            </a:pPr>
            <a:r>
              <a:rPr sz="1425" b="0">
                <a:solidFill>
                  <a:srgbClr val="806D62"/>
                </a:solidFill>
              </a:rPr>
              <a:t>La implementacion usa Express Router, middleware, async/await y manejo basico de errores.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D7EA6F-26F8-44F7-8FF4-343BA5DC00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076450"/>
            <a:ext cx="5334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0708"/>
          </a:solidFill>
          <a:ln xmlns:a="http://schemas.openxmlformats.org/drawingml/2006/main" w="9525">
            <a:solidFill>
              <a:srgbClr val="4B0004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50EAF58-5619-4A83-809D-9E2A849723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47900"/>
            <a:ext cx="49530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app.use("/api/products", productsRouter);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app.use("/api/carts", cartsRouter);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app.use(errorHandler);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productsRouter.get("/", asyncHandler(getProducts));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cartsRouter.get("/:cid", asyncHandler(getCartById));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93291D9-7EA8-40AD-9544-5BCBF126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76450"/>
            <a:ext cx="4953000" cy="2857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10708"/>
          </a:solidFill>
          <a:ln xmlns:a="http://schemas.openxmlformats.org/drawingml/2006/main" w="9525">
            <a:solidFill>
              <a:srgbClr val="4B0004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02C3D64-2B5D-48B7-97DB-AD747D17D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2247900"/>
            <a:ext cx="4572000" cy="2514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CartModel.findById(id)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  .populate("products.product")</a:t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  .lean();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 algn="l">
              <a:defRPr sz="1275" b="0">
                <a:solidFill>
                  <a:srgbClr val="F7ECDF"/>
                </a:solidFill>
              </a:defRPr>
            </a:pPr>
            <a:r>
              <a:rPr sz="1275" b="0">
                <a:solidFill>
                  <a:srgbClr val="F7ECDF"/>
                </a:solidFill>
              </a:rPr>
              <a:t>io.emit("productsUpdated", products);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993EECF-43E4-4875-A5B1-33785CB862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268003F-C2F6-4DB3-9650-FBDEAAF161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08</a:t>
            </a:r>
          </a:p>
        </p:txBody>
      </p:sp>
    </p:spTree>
    <p:extLst>
      <p:ext uri="{BB962C8B-B14F-4D97-AF65-F5344CB8AC3E}">
        <p14:creationId xmlns:p14="http://schemas.microsoft.com/office/powerpoint/2010/main" val="171375393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ECD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61D36F4-7730-4425-AFA3-1A9650BDA5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"/>
            <a:ext cx="8763000" cy="1123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>
                <a:solidFill>
                  <a:srgbClr val="4B0004"/>
                </a:solidFill>
              </a:defRPr>
            </a:pPr>
            <a:r>
              <a:rPr sz="2850" b="1">
                <a:solidFill>
                  <a:srgbClr val="4B0004"/>
                </a:solidFill>
              </a:rPr>
              <a:t>Las pruebas manuales cubren los casos principales del sistema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C858697-98BB-4C83-A3F0-CE428E0FFF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43050"/>
            <a:ext cx="7239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806D62"/>
                </a:solidFill>
              </a:defRPr>
            </a:pPr>
            <a:r>
              <a:rPr sz="1425" b="0">
                <a:solidFill>
                  <a:srgbClr val="806D62"/>
                </a:solidFill>
              </a:rPr>
              <a:t>La entrega se puede demostrar con navegador, API y MongoDB Atlas.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8D7ED4F-3CD9-4D60-8225-265356E80D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0764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GET /api/products con limit, page, query y sort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A6D1A2D-97BA-4C5F-A3A9-4C0F373AC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289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CRUD completo de productos desde admin y API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DF522D9-9929-42CD-AAFC-5F4A516F2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813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POST /api/carts y GET con populate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F76B4D7-144C-48D6-BF3F-AC5004281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7338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Agregar, sumar, restar y borrar productos del carrito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967DD1-DEF9-4FFD-84BB-CAF618A6C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28625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Vista /products, /products/:pid y /carts/:cid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15B118F-4ECB-4740-A934-AC638E5267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4838700"/>
            <a:ext cx="9144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210708"/>
                </a:solidFill>
              </a:defRPr>
            </a:pPr>
            <a:r>
              <a:rPr sz="1350" b="0">
                <a:solidFill>
                  <a:srgbClr val="210708"/>
                </a:solidFill>
              </a:rPr>
              <a:t>• Actualizacion realtime en /realtimeproducts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EF1813-8B64-4E27-B8B7-E1A4A5635B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73405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>
                <a:solidFill>
                  <a:srgbClr val="4B0004"/>
                </a:solidFill>
              </a:defRPr>
            </a:pPr>
            <a:r>
              <a:rPr sz="1500" b="1">
                <a:solidFill>
                  <a:srgbClr val="4B0004"/>
                </a:solidFill>
              </a:rPr>
              <a:t>Repositorio: github.com/martuledesma/FINALCODERBACK1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D87DB6-C76B-4D5D-949F-A1F2AEDBB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94B88F2-E579-4157-B25B-889CFABFD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09</a:t>
            </a:r>
          </a:p>
        </p:txBody>
      </p:sp>
    </p:spTree>
    <p:extLst>
      <p:ext uri="{BB962C8B-B14F-4D97-AF65-F5344CB8AC3E}">
        <p14:creationId xmlns:p14="http://schemas.microsoft.com/office/powerpoint/2010/main" val="202326406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4B000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964C6850-2CCA-4E3A-82C8-F52208307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0550"/>
            <a:ext cx="6858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900" b="1">
                <a:solidFill>
                  <a:srgbClr val="F7ECDF"/>
                </a:solidFill>
              </a:defRPr>
            </a:pPr>
            <a:r>
              <a:rPr sz="3900" b="1">
                <a:solidFill>
                  <a:srgbClr val="F7ECDF"/>
                </a:solidFill>
              </a:rPr>
              <a:t>Cierre del proyecto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45BD50-E02C-45EA-BB6E-9A1DAF245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809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ECDF"/>
                </a:solidFill>
              </a:defRPr>
            </a:pPr>
            <a:r>
              <a:rPr sz="2100" b="1">
                <a:solidFill>
                  <a:srgbClr val="F7ECDF"/>
                </a:solidFill>
              </a:rPr>
              <a:t>Dificultades resueltas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2B98102-9C51-457F-B5B9-041699F8F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812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CDF"/>
                </a:solidFill>
              </a:defRPr>
            </a:pPr>
            <a:r>
              <a:rPr sz="1350" b="0">
                <a:solidFill>
                  <a:srgbClr val="F7ECDF"/>
                </a:solidFill>
              </a:rPr>
              <a:t>• Conexion inicial a Mongo local: se migro a Atlas.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FDF0A33-079A-4E42-8E85-1C9269BA0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8765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CDF"/>
                </a:solidFill>
              </a:defRPr>
            </a:pPr>
            <a:r>
              <a:rPr sz="1350" b="0">
                <a:solidFill>
                  <a:srgbClr val="F7ECDF"/>
                </a:solidFill>
              </a:rPr>
              <a:t>• Carrito poco natural: se incorporo carrito activo con cantidades.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37BF1E-5B8C-4905-AFBC-EFAC127C5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371850"/>
            <a:ext cx="4762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CDF"/>
                </a:solidFill>
              </a:defRPr>
            </a:pPr>
            <a:r>
              <a:rPr sz="1350" b="0">
                <a:solidFill>
                  <a:srgbClr val="F7ECDF"/>
                </a:solidFill>
              </a:rPr>
              <a:t>• Admin limitado: se agrego edicion, talles e iconos.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7FC687C-5847-45A5-8FF6-F43E7BDA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1809750"/>
            <a:ext cx="38100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ECDF"/>
                </a:solidFill>
              </a:defRPr>
            </a:pPr>
            <a:r>
              <a:rPr sz="2100" b="1">
                <a:solidFill>
                  <a:srgbClr val="F7ECDF"/>
                </a:solidFill>
              </a:rPr>
              <a:t>Mejoras futuras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5B9B86D-A714-40D7-91E8-C6B505DCCD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3812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CDF"/>
                </a:solidFill>
              </a:defRPr>
            </a:pPr>
            <a:r>
              <a:rPr sz="1350" b="0">
                <a:solidFill>
                  <a:srgbClr val="F7ECDF"/>
                </a:solidFill>
              </a:rPr>
              <a:t>• Autenticacion para administradores.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5042A78-C260-476C-AD2B-F84B5E0954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28765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CDF"/>
                </a:solidFill>
              </a:defRPr>
            </a:pPr>
            <a:r>
              <a:rPr sz="1350" b="0">
                <a:solidFill>
                  <a:srgbClr val="F7ECDF"/>
                </a:solidFill>
              </a:rPr>
              <a:t>• Checkout real con pagos.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CE6CFE1-5036-47EB-A85F-C64DAA82C7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3371850"/>
            <a:ext cx="4000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F7ECDF"/>
                </a:solidFill>
              </a:defRPr>
            </a:pPr>
            <a:r>
              <a:rPr sz="1350" b="0">
                <a:solidFill>
                  <a:srgbClr val="F7ECDF"/>
                </a:solidFill>
              </a:rPr>
              <a:t>• Carga de imagenes con storage externo.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8099183-3520-44D0-AE71-8EA138FC9A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334000"/>
            <a:ext cx="93345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F7ECDF"/>
                </a:solidFill>
              </a:defRPr>
            </a:pPr>
            <a:r>
              <a:rPr sz="2100" b="1">
                <a:solidFill>
                  <a:srgbClr val="F7ECDF"/>
                </a:solidFill>
              </a:rPr>
              <a:t>Kitana queda funcional como backend ecommerce final y lista para presentar evidencia tecnica.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E22AEA4-FAB9-4CE4-9F6E-E56409A606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15100"/>
            <a:ext cx="3238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KITANA ecommerce backend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C56C421-F9D2-4F70-AF3B-430410930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15100"/>
            <a:ext cx="4953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050" b="0">
                <a:solidFill>
                  <a:srgbClr val="806D62"/>
                </a:solidFill>
              </a:defRPr>
            </a:pPr>
            <a:r>
              <a:rPr sz="1050" b="0">
                <a:solidFill>
                  <a:srgbClr val="806D62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223139756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2026-07-16T15:31:50.3590000Z</dcterms:created>
  <dcterms:modified xsi:type="dcterms:W3CDTF">2026-07-16T15:31:50.3590000Z</dcterms:modified>
</coreProperties>
</file>